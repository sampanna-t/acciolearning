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5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panna T" initials="ST" lastIdx="1" clrIdx="0">
    <p:extLst>
      <p:ext uri="{19B8F6BF-5375-455C-9EA6-DF929625EA0E}">
        <p15:presenceInfo xmlns:p15="http://schemas.microsoft.com/office/powerpoint/2012/main" userId="d378653dd826be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47F62-8D75-4DA3-8233-CE6A3E3458FF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C7DE0-42CA-4CFA-845A-7B4B30030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98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C7DE0-42CA-4CFA-845A-7B4B30030A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81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992C-6E82-5D69-FC03-097E6120B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FBBC5-8899-D261-6351-D9A505100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298F4-DD1F-2804-832F-321783F6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4F55E-291B-B5C3-2A74-54C0E9E0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A31D-E824-543B-E426-62672603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8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7ED9-CBDD-D0BE-3D65-3A4A32A8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5EA1-9A7B-9772-08EF-2BB90365A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8C6A2-EBA2-283E-AA15-8D46D610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22BAB-9905-644A-3648-08A3DA54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12041-CC87-D8E2-9773-9AEAFBAE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9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BDCF-DB9D-A201-53A1-B3F97EA71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DC239-3599-C2D1-A479-2E0A8C6DB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98DFF-82A4-39F9-2F6B-5B0357E7F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66D18-AE33-CD67-BCAE-7628C5FD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053E3-14C2-90C5-0DDD-A472D5DA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5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9A9D-3B61-32A8-A74B-C8E5C21C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4B89E-96BE-BF14-724D-F2327567F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EFC22-92D1-CB49-0FCB-FBAF35A5B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03839-C080-44A2-EB38-50FD1624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F0D0F-66A7-0CDB-D612-8D53EEAD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2C4C9-4E46-F178-F3C3-05CF51F5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83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A6D3-4297-1BAE-3992-6F97BBA5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D6B7-CB7D-6250-AF76-3D997B2DA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8EC54-EC23-FF4C-28E5-279C9BD97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07D40-C9C0-68F0-C018-E9B5EE364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7A4A2-8E6C-295C-DD27-AF16378E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F0584C-E431-9B4F-4EE7-A5DB022C9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0A31C5-2A79-6F33-127D-7A036687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711135-D969-AEDD-1E24-A4DE10DB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89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D5B6-9EAC-BF7C-2DC0-215DBD5F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38F736-5E12-8B60-10FA-8633B7CD3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E871D-D520-9A11-958A-78234541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ED97B-34D3-F353-6A6D-B20C0696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3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00F68C-5CF7-1E40-B587-E45F9D0E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F764E-2D00-EAE7-5FBC-B51631229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8DD57-C502-E20D-2F6E-6BAAF1EA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5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E107-A586-ED51-74D6-14219970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D0E34-5A01-F1F3-B008-674649255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BCF5A-D9E9-EA19-8AAE-1B400BDF0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8E7A0-CE19-F7A6-17B2-C463AF11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8D966-86DD-64F6-2B45-0D4064D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91293-EBFD-2449-6E19-D2D13FBD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4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52A7-991D-F2B7-4726-DD6B065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23F34D-356E-16BC-CB34-8FCD01D02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520E2-C30A-7484-0688-77619B5BE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A2C28-6F18-21BD-72E6-6370CC39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1AAEA-C4A7-D89F-D284-1A04CBE64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C0D73-323F-D7BE-FBAB-B8941F7B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5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58C9-A6A2-6E4C-F3EF-036E2D61E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9EDA4-5FC7-549D-94BD-02C548840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02235-4C92-9E73-26C9-C586FA6E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6FAD1-7717-A96E-559E-B9FD4145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0292C-1CBF-788D-7068-73E1CA3E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1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98219B-3240-F2A9-F59A-D08B2DFDE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7749B-DB91-6E74-CC12-68EDC7016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B7510-8AD5-BEB3-847E-5776C6AF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8A43-03A5-49CD-05C0-69B062DBC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5F59C-17EB-5E96-AB44-7C64238B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70771C-DF91-C556-B876-77362581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4025C-FF70-50B7-F936-797C502AF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FC5BE-6F46-E3EA-3FF5-1966DFDB2E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033BA-9346-4B23-AB28-BE6AA92B1B34}" type="datetimeFigureOut">
              <a:rPr lang="en-US" smtClean="0"/>
              <a:t>6/12/2022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6AB4A-E41A-0DCB-C580-2157BDA61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18809-2ABC-FA17-BAFD-60CD11648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892D0-EED8-4776-9ECC-FA0D8F997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7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375" y="827088"/>
            <a:ext cx="596265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IDENTIFIER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1562100"/>
            <a:ext cx="9894045" cy="461962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Can use a-z,A-Z,_,$,0-9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First digit can't be 0-9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Can't use reserved names like </a:t>
            </a:r>
            <a:r>
              <a:rPr lang="en-US" cap="none" dirty="0"/>
              <a:t>if, for, int, float </a:t>
            </a:r>
            <a:r>
              <a:rPr lang="en-US" dirty="0"/>
              <a:t>etc.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Can use class names like S</a:t>
            </a:r>
            <a:r>
              <a:rPr lang="en-US" cap="none" dirty="0"/>
              <a:t>tring</a:t>
            </a:r>
            <a:r>
              <a:rPr lang="en-US" dirty="0"/>
              <a:t>, </a:t>
            </a:r>
            <a:r>
              <a:rPr lang="en-US" dirty="0" err="1"/>
              <a:t>S</a:t>
            </a:r>
            <a:r>
              <a:rPr lang="en-US" cap="none" dirty="0" err="1"/>
              <a:t>tringBuffer</a:t>
            </a:r>
            <a:r>
              <a:rPr lang="en-US" dirty="0"/>
              <a:t> etc. but not recommended.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425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50813"/>
            <a:ext cx="596265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Keywords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9126" y="1352551"/>
            <a:ext cx="3562349" cy="2571749"/>
          </a:xfrm>
        </p:spPr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3C23A4-50D5-17B6-F1E4-14BF823B7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07637"/>
              </p:ext>
            </p:extLst>
          </p:nvPr>
        </p:nvGraphicFramePr>
        <p:xfrm>
          <a:off x="619126" y="1419225"/>
          <a:ext cx="7296150" cy="3724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4178">
                  <a:extLst>
                    <a:ext uri="{9D8B030D-6E8A-4147-A177-3AD203B41FA5}">
                      <a16:colId xmlns:a16="http://schemas.microsoft.com/office/drawing/2014/main" val="2009262455"/>
                    </a:ext>
                  </a:extLst>
                </a:gridCol>
                <a:gridCol w="863912">
                  <a:extLst>
                    <a:ext uri="{9D8B030D-6E8A-4147-A177-3AD203B41FA5}">
                      <a16:colId xmlns:a16="http://schemas.microsoft.com/office/drawing/2014/main" val="1588185828"/>
                    </a:ext>
                  </a:extLst>
                </a:gridCol>
                <a:gridCol w="1270300">
                  <a:extLst>
                    <a:ext uri="{9D8B030D-6E8A-4147-A177-3AD203B41FA5}">
                      <a16:colId xmlns:a16="http://schemas.microsoft.com/office/drawing/2014/main" val="3622825493"/>
                    </a:ext>
                  </a:extLst>
                </a:gridCol>
                <a:gridCol w="1098056">
                  <a:extLst>
                    <a:ext uri="{9D8B030D-6E8A-4147-A177-3AD203B41FA5}">
                      <a16:colId xmlns:a16="http://schemas.microsoft.com/office/drawing/2014/main" val="1829502772"/>
                    </a:ext>
                  </a:extLst>
                </a:gridCol>
                <a:gridCol w="1154573">
                  <a:extLst>
                    <a:ext uri="{9D8B030D-6E8A-4147-A177-3AD203B41FA5}">
                      <a16:colId xmlns:a16="http://schemas.microsoft.com/office/drawing/2014/main" val="544749932"/>
                    </a:ext>
                  </a:extLst>
                </a:gridCol>
                <a:gridCol w="1022698">
                  <a:extLst>
                    <a:ext uri="{9D8B030D-6E8A-4147-A177-3AD203B41FA5}">
                      <a16:colId xmlns:a16="http://schemas.microsoft.com/office/drawing/2014/main" val="3441238515"/>
                    </a:ext>
                  </a:extLst>
                </a:gridCol>
                <a:gridCol w="702433">
                  <a:extLst>
                    <a:ext uri="{9D8B030D-6E8A-4147-A177-3AD203B41FA5}">
                      <a16:colId xmlns:a16="http://schemas.microsoft.com/office/drawing/2014/main" val="3543752838"/>
                    </a:ext>
                  </a:extLst>
                </a:gridCol>
              </a:tblGrid>
              <a:tr h="310356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DATA TYPES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FLOW</a:t>
                      </a:r>
                      <a:endParaRPr lang="en-US" sz="17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MODIFIERS</a:t>
                      </a:r>
                      <a:endParaRPr lang="en-US" sz="17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EXCEPTION</a:t>
                      </a:r>
                      <a:endParaRPr lang="en-US" sz="17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CLASS</a:t>
                      </a:r>
                      <a:endParaRPr lang="en-US" sz="17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OBJECT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OTHER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62459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Byte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if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public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try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class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new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void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1808744001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 dirty="0">
                          <a:effectLst/>
                        </a:rPr>
                        <a:t>Short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else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private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catch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extends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instanceof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enum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1911382065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int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switch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protected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finally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implements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super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1866849326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long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case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static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throw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interface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this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2853579948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float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default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final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throws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package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2712259218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double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while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abstract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assert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import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139778544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boolean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do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synchronized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1652588452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char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for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native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855015281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break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strictfp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88386591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continue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transient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248228479"/>
                  </a:ext>
                </a:extLst>
              </a:tr>
              <a:tr h="310356"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return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volatile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4" marR="8134" marT="8134" marB="0" anchor="b"/>
                </a:tc>
                <a:extLst>
                  <a:ext uri="{0D108BD9-81ED-4DB2-BD59-A6C34878D82A}">
                    <a16:rowId xmlns:a16="http://schemas.microsoft.com/office/drawing/2014/main" val="251186158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EB61B77-3321-F79D-6967-04011886A839}"/>
              </a:ext>
            </a:extLst>
          </p:cNvPr>
          <p:cNvSpPr txBox="1">
            <a:spLocks/>
          </p:cNvSpPr>
          <p:nvPr/>
        </p:nvSpPr>
        <p:spPr>
          <a:xfrm>
            <a:off x="304800" y="750888"/>
            <a:ext cx="2657475" cy="6683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USED KEYWORDS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F63042-BD2D-248E-8C77-2EF23C134617}"/>
              </a:ext>
            </a:extLst>
          </p:cNvPr>
          <p:cNvSpPr txBox="1">
            <a:spLocks/>
          </p:cNvSpPr>
          <p:nvPr/>
        </p:nvSpPr>
        <p:spPr>
          <a:xfrm>
            <a:off x="8724900" y="779463"/>
            <a:ext cx="2657475" cy="6683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UNUSED KEYWORDS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BB416-4232-8887-B4B9-D775AFE2AB79}"/>
              </a:ext>
            </a:extLst>
          </p:cNvPr>
          <p:cNvSpPr txBox="1"/>
          <p:nvPr/>
        </p:nvSpPr>
        <p:spPr>
          <a:xfrm>
            <a:off x="8220075" y="1609725"/>
            <a:ext cx="353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goto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const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C8216B-FD18-FE76-64B2-F63124F97AC2}"/>
              </a:ext>
            </a:extLst>
          </p:cNvPr>
          <p:cNvSpPr txBox="1">
            <a:spLocks/>
          </p:cNvSpPr>
          <p:nvPr/>
        </p:nvSpPr>
        <p:spPr>
          <a:xfrm>
            <a:off x="8772525" y="2493963"/>
            <a:ext cx="2657475" cy="6683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RESERVED LITERALS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DF942-8872-B8D1-5168-4631F2C11D71}"/>
              </a:ext>
            </a:extLst>
          </p:cNvPr>
          <p:cNvSpPr txBox="1"/>
          <p:nvPr/>
        </p:nvSpPr>
        <p:spPr>
          <a:xfrm>
            <a:off x="8267700" y="3324225"/>
            <a:ext cx="353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true </a:t>
            </a:r>
          </a:p>
          <a:p>
            <a:pPr algn="ctr"/>
            <a:r>
              <a:rPr lang="en-US" dirty="0"/>
              <a:t>false</a:t>
            </a:r>
          </a:p>
          <a:p>
            <a:pPr algn="ctr"/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403692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374" y="827088"/>
            <a:ext cx="9115425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IS JAVA STATICALLY TYPED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1562102"/>
            <a:ext cx="9894045" cy="1190624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Yes BECAUSE the type of the variable is checked at the </a:t>
            </a:r>
            <a:r>
              <a:rPr lang="en-US" b="1" u="sng" dirty="0"/>
              <a:t>compile-time</a:t>
            </a:r>
            <a:r>
              <a:rPr lang="en-US" dirty="0"/>
              <a:t> of the code HENCE called a statically typed language.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Code won’t be compiled until error is corrected.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D4FBD46-8BF1-BCE0-DA34-B803B2FC61ED}"/>
              </a:ext>
            </a:extLst>
          </p:cNvPr>
          <p:cNvSpPr txBox="1">
            <a:spLocks/>
          </p:cNvSpPr>
          <p:nvPr/>
        </p:nvSpPr>
        <p:spPr bwMode="gray">
          <a:xfrm>
            <a:off x="1154954" y="3590927"/>
            <a:ext cx="9894045" cy="11906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Yes BECAUSE the type of the variable Should be specified by the programmer.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31232E9-C83D-EF56-6864-60D13DA58BC8}"/>
              </a:ext>
            </a:extLst>
          </p:cNvPr>
          <p:cNvSpPr txBox="1">
            <a:spLocks/>
          </p:cNvSpPr>
          <p:nvPr/>
        </p:nvSpPr>
        <p:spPr bwMode="gray">
          <a:xfrm>
            <a:off x="1174004" y="5172077"/>
            <a:ext cx="9894045" cy="7715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No because primitive data types are used &amp; MULTIPLE inheritance, operator overloading features not available.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AC104A-27E4-1B43-9DB6-3C042380725B}"/>
              </a:ext>
            </a:extLst>
          </p:cNvPr>
          <p:cNvSpPr txBox="1">
            <a:spLocks/>
          </p:cNvSpPr>
          <p:nvPr/>
        </p:nvSpPr>
        <p:spPr>
          <a:xfrm>
            <a:off x="942974" y="2884488"/>
            <a:ext cx="9115425" cy="6683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IS JAVA STRONGLY TYPED 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DDF2397-3F05-5FCD-6BD8-4817F9697895}"/>
              </a:ext>
            </a:extLst>
          </p:cNvPr>
          <p:cNvSpPr txBox="1">
            <a:spLocks/>
          </p:cNvSpPr>
          <p:nvPr/>
        </p:nvSpPr>
        <p:spPr>
          <a:xfrm>
            <a:off x="1009649" y="4522788"/>
            <a:ext cx="9115425" cy="6683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IS JAVA OBJECT ORIENTED?</a:t>
            </a:r>
          </a:p>
        </p:txBody>
      </p:sp>
    </p:spTree>
    <p:extLst>
      <p:ext uri="{BB962C8B-B14F-4D97-AF65-F5344CB8AC3E}">
        <p14:creationId xmlns:p14="http://schemas.microsoft.com/office/powerpoint/2010/main" val="212297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375" y="827088"/>
            <a:ext cx="596265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TYPE RANGE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1562100"/>
            <a:ext cx="9894045" cy="461962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000" cap="none" dirty="0"/>
              <a:t>byte -&gt; 1 byte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/>
              <a:t>short -&gt; 2 byte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/>
              <a:t>int -&gt; 4 byte (declaration </a:t>
            </a:r>
            <a:r>
              <a:rPr lang="en-US" sz="2000" b="1" cap="none" dirty="0"/>
              <a:t>int hex = 0xa </a:t>
            </a:r>
            <a:r>
              <a:rPr lang="en-US" sz="2000" cap="none" dirty="0"/>
              <a:t>[=10]or </a:t>
            </a:r>
            <a:r>
              <a:rPr lang="en-US" sz="2000" b="1" cap="none" dirty="0"/>
              <a:t>int oct = 010</a:t>
            </a:r>
            <a:r>
              <a:rPr lang="en-US" sz="2000" cap="none" dirty="0"/>
              <a:t>[=8] or </a:t>
            </a:r>
            <a:r>
              <a:rPr lang="en-US" sz="2000" b="1" cap="none" dirty="0"/>
              <a:t>int bin=0b111</a:t>
            </a:r>
            <a:r>
              <a:rPr lang="en-US" sz="2000" cap="none" dirty="0"/>
              <a:t>[=7] 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/>
              <a:t>long -&gt; 8 byte (declaration long l = 20L 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/>
              <a:t>float -&gt; 4 byte (declaration float f = 20.0f)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/>
              <a:t>double -&gt; 8 byte (declaration double d = 1.2e9 [=1.2*10^9])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 err="1"/>
              <a:t>boolean</a:t>
            </a:r>
            <a:r>
              <a:rPr lang="en-US" sz="2000" cap="none" dirty="0"/>
              <a:t> -&gt; compiler dependent(1 bit)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cap="none" dirty="0"/>
              <a:t>char -&gt; 2 byte (declaration can be char x = 97)</a:t>
            </a:r>
          </a:p>
          <a:p>
            <a:pPr algn="l"/>
            <a:r>
              <a:rPr lang="en-US" dirty="0"/>
              <a:t>Ex:- int x = 11_11_1; o/p-&gt; x=11111</a:t>
            </a:r>
          </a:p>
          <a:p>
            <a:pPr algn="l"/>
            <a:r>
              <a:rPr lang="en-US" dirty="0"/>
              <a:t>        double x = 11_11.11_11; o/p-&gt; x=1111.1111</a:t>
            </a:r>
          </a:p>
          <a:p>
            <a:pPr algn="l"/>
            <a:r>
              <a:rPr lang="en-US" dirty="0"/>
              <a:t>But </a:t>
            </a:r>
            <a:r>
              <a:rPr lang="en-US" dirty="0">
                <a:solidFill>
                  <a:srgbClr val="FF0000"/>
                </a:solidFill>
              </a:rPr>
              <a:t>double y = 11_11.11_; =&gt;error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37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375" y="82708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SPECIAL CHARACCTERS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1562100"/>
            <a:ext cx="9894045" cy="461962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\n -&gt; newline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\b -&gt; backspace (points cursor in one back direction)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\r -&gt; carriage return (returns to position in a given line)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\t -&gt; tab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\’ -&gt; single quote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\” -&gt; double quote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\\ -&gt; backslash</a:t>
            </a:r>
          </a:p>
          <a:p>
            <a:pPr algn="l"/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6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425" y="188913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800100"/>
            <a:ext cx="9894045" cy="5924550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int x[] = new int[size];  size= 0 to </a:t>
            </a:r>
            <a:r>
              <a:rPr lang="en-US" dirty="0" err="1"/>
              <a:t>Integer.MAX_VALUE</a:t>
            </a: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int x[][] = new int[size1][size2]; size1*size2= 0 to </a:t>
            </a:r>
            <a:r>
              <a:rPr lang="en-US" dirty="0" err="1"/>
              <a:t>Integer.MAX_VALUE</a:t>
            </a: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Can also declare like this =&gt; int x[][] = new int[size1][]; &amp; then do as follows x[0] = new int[3]; x[1] = new int[2]; … till x[size1-1] = new int[4]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Can also declare like this =&gt; int x[] = {1,2,3}; or int x[][] = {{1,2},{1,3,4}}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And int x[]; x = new int[2]; is valid But </a:t>
            </a:r>
            <a:r>
              <a:rPr lang="en-US" dirty="0">
                <a:solidFill>
                  <a:srgbClr val="FF0000"/>
                </a:solidFill>
              </a:rPr>
              <a:t>int x[]; x = {1,2,3}; is invalid</a:t>
            </a:r>
            <a:r>
              <a:rPr lang="en-US" dirty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To get length final variable length is used.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If we have x as 2D array then to get the length of entire array we must use x[0].</a:t>
            </a:r>
            <a:r>
              <a:rPr lang="en-US" dirty="0" err="1"/>
              <a:t>length+x</a:t>
            </a:r>
            <a:r>
              <a:rPr lang="en-US" dirty="0"/>
              <a:t>[1].length[]+x[2].length+…+x[n-1].length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If we use </a:t>
            </a:r>
            <a:r>
              <a:rPr lang="en-US" dirty="0" err="1"/>
              <a:t>x.length</a:t>
            </a:r>
            <a:r>
              <a:rPr lang="en-US" dirty="0"/>
              <a:t> then we will get n but not the number of elements in the array.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Anonymous arrays can be created while passing parameters or other cases like fun(new int[2][2]{{1,2},{1,3}}) and also like int x = new int[3]{1,2,3}  or x=new int[]{1,2,3} (now it is not anonymous any more) etc.</a:t>
            </a:r>
          </a:p>
        </p:txBody>
      </p:sp>
    </p:spTree>
    <p:extLst>
      <p:ext uri="{BB962C8B-B14F-4D97-AF65-F5344CB8AC3E}">
        <p14:creationId xmlns:p14="http://schemas.microsoft.com/office/powerpoint/2010/main" val="3777597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375" y="82708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1562100"/>
            <a:ext cx="9894045" cy="461962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We can categorizes variables under 2 division-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Division1 -&gt; 1)Primitive 2)Reference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Division2 -&gt; 1)instance(heap area) 2)static(heap area) 3)local(stack area)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Default values of instance and static variables are as follows  - </a:t>
            </a:r>
          </a:p>
          <a:p>
            <a:pPr algn="l"/>
            <a:r>
              <a:rPr lang="en-US" dirty="0"/>
              <a:t>1)Numbers =0 2)references=null 3)Boolean=false  so don’t need to initialize.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/>
              <a:t>Local variables don’t have default values so they must be initialized.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/>
              <a:t>Local variables also cannot be used with any modifiers except final. </a:t>
            </a:r>
            <a:r>
              <a:rPr lang="en-US" dirty="0" err="1"/>
              <a:t>i.e</a:t>
            </a:r>
            <a:r>
              <a:rPr lang="en-US" dirty="0"/>
              <a:t>  final int x = 20 is valid.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/>
              <a:t>If we have instance/static variable like these 1) int x[]; 2)int x[] = new int[3] in 1) will get null pointer exception if accessing x[0] 2)will give 0 if accessed x[0].</a:t>
            </a:r>
          </a:p>
        </p:txBody>
      </p:sp>
    </p:spTree>
    <p:extLst>
      <p:ext uri="{BB962C8B-B14F-4D97-AF65-F5344CB8AC3E}">
        <p14:creationId xmlns:p14="http://schemas.microsoft.com/office/powerpoint/2010/main" val="355043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38893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VARARGS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626" y="1076325"/>
            <a:ext cx="10239374" cy="5353049"/>
          </a:xfrm>
        </p:spPr>
        <p:txBody>
          <a:bodyPr/>
          <a:lstStyle/>
          <a:p>
            <a:pPr algn="l"/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       </a:t>
            </a:r>
          </a:p>
          <a:p>
            <a:pPr algn="l"/>
            <a:r>
              <a:rPr lang="en-US" dirty="0"/>
              <a:t>m1();//   or m1(1,2,3)   </a:t>
            </a:r>
          </a:p>
          <a:p>
            <a:pPr algn="l"/>
            <a:r>
              <a:rPr lang="en-US" dirty="0"/>
              <a:t> m2(new int[]{}); //   or m2(new int[]{1,2})	</a:t>
            </a:r>
          </a:p>
          <a:p>
            <a:pPr algn="l"/>
            <a:r>
              <a:rPr lang="en-US" dirty="0"/>
              <a:t>}	</a:t>
            </a:r>
          </a:p>
          <a:p>
            <a:pPr algn="l"/>
            <a:r>
              <a:rPr lang="en-US" dirty="0"/>
              <a:t>public static void m1(int... x){	  </a:t>
            </a:r>
          </a:p>
          <a:p>
            <a:pPr algn="l"/>
            <a:r>
              <a:rPr lang="en-US" dirty="0"/>
              <a:t>  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x.length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</a:t>
            </a:r>
            <a:r>
              <a:rPr lang="en-US" dirty="0" err="1"/>
              <a:t>System.out.print</a:t>
            </a:r>
            <a:r>
              <a:rPr lang="en-US" dirty="0"/>
              <a:t>(x[</a:t>
            </a:r>
            <a:r>
              <a:rPr lang="en-US" dirty="0" err="1"/>
              <a:t>i</a:t>
            </a:r>
            <a:r>
              <a:rPr lang="en-US" dirty="0"/>
              <a:t>]+" -&gt;");	</a:t>
            </a:r>
          </a:p>
          <a:p>
            <a:pPr algn="l"/>
            <a:r>
              <a:rPr lang="en-US" dirty="0"/>
              <a:t>}		</a:t>
            </a:r>
          </a:p>
          <a:p>
            <a:pPr algn="l"/>
            <a:r>
              <a:rPr lang="en-US" dirty="0"/>
              <a:t>public static void m2(int[] x){	    </a:t>
            </a:r>
          </a:p>
          <a:p>
            <a:pPr algn="l"/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x.length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</a:t>
            </a:r>
            <a:r>
              <a:rPr lang="en-US" dirty="0" err="1"/>
              <a:t>System.out.print</a:t>
            </a:r>
            <a:r>
              <a:rPr lang="en-US" dirty="0"/>
              <a:t>(x[</a:t>
            </a:r>
            <a:r>
              <a:rPr lang="en-US" dirty="0" err="1"/>
              <a:t>i</a:t>
            </a:r>
            <a:r>
              <a:rPr lang="en-US" dirty="0"/>
              <a:t>]+" -&gt;&gt;");	    </a:t>
            </a:r>
          </a:p>
          <a:p>
            <a:pPr algn="l"/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409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425" y="265113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MAIN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885825"/>
            <a:ext cx="11268075" cy="5705475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1)public -&gt; To be accessible to JVM from anywhere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2)static -&gt; To be able to call main without creating object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3)void -&gt; not returning anything to JVM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4)main -&gt; name of the function called by JVM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5)string []</a:t>
            </a:r>
            <a:r>
              <a:rPr lang="en-US" dirty="0" err="1"/>
              <a:t>args</a:t>
            </a:r>
            <a:r>
              <a:rPr lang="en-US" dirty="0"/>
              <a:t> -&gt; accepts input runtime</a:t>
            </a:r>
          </a:p>
          <a:p>
            <a:pPr algn="l"/>
            <a:r>
              <a:rPr lang="en-US" dirty="0"/>
              <a:t>i.e. when using command [ java filename arg1 arg2 arg3  so on ] can be used to get arguments run time &amp; to access these </a:t>
            </a:r>
            <a:r>
              <a:rPr lang="en-US" dirty="0" err="1"/>
              <a:t>args</a:t>
            </a:r>
            <a:r>
              <a:rPr lang="en-US" dirty="0"/>
              <a:t> just use </a:t>
            </a:r>
            <a:r>
              <a:rPr lang="en-US" dirty="0" err="1"/>
              <a:t>args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Overloading of main will be done but string[] </a:t>
            </a:r>
            <a:r>
              <a:rPr lang="en-US" dirty="0" err="1"/>
              <a:t>args</a:t>
            </a:r>
            <a:r>
              <a:rPr lang="en-US" dirty="0"/>
              <a:t> one will be called.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Overriding is possible(called method hiding as at compile time itself the method is resolved)  hence child main will be called.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final, synchronized, </a:t>
            </a:r>
            <a:r>
              <a:rPr lang="en-US" dirty="0" err="1"/>
              <a:t>strictfp</a:t>
            </a:r>
            <a:r>
              <a:rPr lang="en-US" dirty="0"/>
              <a:t> are the only modifiers that can be used with main method.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Without main method error occurs.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Parameter -&gt; method variables   Argument -&gt; variables/values passed while calling method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625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375" y="48418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++ Operator </a:t>
            </a:r>
            <a:r>
              <a:rPr lang="en-US" dirty="0" err="1"/>
              <a:t>usecase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850" y="1162050"/>
            <a:ext cx="11106150" cy="5229225"/>
          </a:xfrm>
        </p:spPr>
        <p:txBody>
          <a:bodyPr>
            <a:normAutofit fontScale="92500"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1)byte b = 10; </a:t>
            </a:r>
            <a:r>
              <a:rPr lang="en-US" dirty="0">
                <a:solidFill>
                  <a:srgbClr val="FF0000"/>
                </a:solidFill>
              </a:rPr>
              <a:t>b = b+1; error  (Since byte + int = int)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2)byte b = 10; b++; </a:t>
            </a:r>
            <a:r>
              <a:rPr lang="en-US" dirty="0">
                <a:sym typeface="Wingdings" panose="05000000000000000000" pitchFamily="2" charset="2"/>
              </a:rPr>
              <a:t> o/p b=11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ym typeface="Wingdings" panose="05000000000000000000" pitchFamily="2" charset="2"/>
              </a:rPr>
              <a:t> 3)byte b = 10; b = (byte)(b+1); o/p  b=11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ym typeface="Wingdings" panose="05000000000000000000" pitchFamily="2" charset="2"/>
              </a:rPr>
              <a:t>In 1) compiler thinks that operation is on int hence returns int result but in 2&amp;3) compiler performs operation and then converts back to byte.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Basically compile returns maximum data type result after computing.</a:t>
            </a:r>
          </a:p>
          <a:p>
            <a:pPr algn="l"/>
            <a:r>
              <a:rPr lang="en-US" dirty="0"/>
              <a:t>Ex: public class Main{	</a:t>
            </a:r>
          </a:p>
          <a:p>
            <a:pPr algn="l"/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     </a:t>
            </a:r>
          </a:p>
          <a:p>
            <a:pPr algn="l"/>
            <a:r>
              <a:rPr lang="en-US" dirty="0"/>
              <a:t>  long value = 10;        </a:t>
            </a:r>
          </a:p>
          <a:p>
            <a:pPr algn="l"/>
            <a:r>
              <a:rPr lang="en-US" dirty="0"/>
              <a:t> value = value + </a:t>
            </a:r>
            <a:r>
              <a:rPr lang="en-US" dirty="0" err="1"/>
              <a:t>Integer.MAX_VALUE</a:t>
            </a:r>
            <a:r>
              <a:rPr lang="en-US" dirty="0"/>
              <a:t>;(long + int = long)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System.out.println</a:t>
            </a:r>
            <a:r>
              <a:rPr lang="en-US" dirty="0"/>
              <a:t>(value);	O/P</a:t>
            </a:r>
            <a:r>
              <a:rPr lang="en-US" dirty="0">
                <a:sym typeface="Wingdings" panose="05000000000000000000" pitchFamily="2" charset="2"/>
              </a:rPr>
              <a:t> 2147483657</a:t>
            </a:r>
            <a:endParaRPr lang="en-US" dirty="0"/>
          </a:p>
          <a:p>
            <a:pPr algn="l"/>
            <a:r>
              <a:rPr lang="en-US" dirty="0"/>
              <a:t>}</a:t>
            </a:r>
          </a:p>
          <a:p>
            <a:pPr algn="l"/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38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9725" y="265113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JAVA STANDARD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326" y="828676"/>
            <a:ext cx="11610974" cy="1419224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Class name, interface name starts with capital letter &amp; camel casing followed.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Variable name, method name starts with small letter &amp; camel casing followed.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Constants are separated by underscore &amp; all letter are capital.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9E1966-8F13-B1DD-6CEE-B2972AC371C3}"/>
              </a:ext>
            </a:extLst>
          </p:cNvPr>
          <p:cNvSpPr txBox="1">
            <a:spLocks/>
          </p:cNvSpPr>
          <p:nvPr/>
        </p:nvSpPr>
        <p:spPr>
          <a:xfrm>
            <a:off x="1600200" y="2474913"/>
            <a:ext cx="8001000" cy="6683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SAMPLE EXAMPLES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9F5FF67-0CAF-AA5C-08BD-731C2D5DAB8D}"/>
              </a:ext>
            </a:extLst>
          </p:cNvPr>
          <p:cNvSpPr txBox="1">
            <a:spLocks/>
          </p:cNvSpPr>
          <p:nvPr/>
        </p:nvSpPr>
        <p:spPr>
          <a:xfrm>
            <a:off x="304801" y="3038476"/>
            <a:ext cx="11610974" cy="3629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SOP(10/0) -&gt; </a:t>
            </a:r>
            <a:r>
              <a:rPr lang="en-US" dirty="0" err="1">
                <a:solidFill>
                  <a:srgbClr val="FF0000"/>
                </a:solidFill>
              </a:rPr>
              <a:t>RE:ArithmeticException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SOP(10.0/0.0) -&gt; Infinity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SOP(-10.0/0)-&gt; -Infinity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SOP(0.0/0) -&gt; Nan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SOP(-0.0/0) -&gt; Nan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NOTE :- Only operator overloaded in java is ‘+’ operator for arithmetic &amp; string concatenation.</a:t>
            </a:r>
          </a:p>
        </p:txBody>
      </p:sp>
    </p:spTree>
    <p:extLst>
      <p:ext uri="{BB962C8B-B14F-4D97-AF65-F5344CB8AC3E}">
        <p14:creationId xmlns:p14="http://schemas.microsoft.com/office/powerpoint/2010/main" val="1483146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2525" y="35083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== VS .equals in String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575" y="1133476"/>
            <a:ext cx="11468099" cy="5200650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== basically compares if the two references are pointing to the same object or not, if yes then it returns true.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.equals checks the content pointed by two references &amp; if they are equal then return true.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Ex :</a:t>
            </a:r>
          </a:p>
          <a:p>
            <a:pPr algn="l"/>
            <a:r>
              <a:rPr lang="en-US" dirty="0"/>
              <a:t>String str1 = new String(“</a:t>
            </a:r>
            <a:r>
              <a:rPr lang="en-US" dirty="0" err="1"/>
              <a:t>abc</a:t>
            </a:r>
            <a:r>
              <a:rPr lang="en-US" dirty="0"/>
              <a:t>”);</a:t>
            </a:r>
          </a:p>
          <a:p>
            <a:pPr algn="l"/>
            <a:r>
              <a:rPr lang="en-US" dirty="0"/>
              <a:t>String str2 = new String(“</a:t>
            </a:r>
            <a:r>
              <a:rPr lang="en-US" dirty="0" err="1"/>
              <a:t>abc</a:t>
            </a:r>
            <a:r>
              <a:rPr lang="en-US" dirty="0"/>
              <a:t>”);</a:t>
            </a:r>
          </a:p>
          <a:p>
            <a:pPr algn="l"/>
            <a:r>
              <a:rPr lang="en-US" dirty="0" err="1"/>
              <a:t>System.out.println</a:t>
            </a:r>
            <a:r>
              <a:rPr lang="en-US" dirty="0"/>
              <a:t>(str1==str2);// O/P-&gt; false</a:t>
            </a:r>
          </a:p>
          <a:p>
            <a:pPr algn="l"/>
            <a:r>
              <a:rPr lang="en-US" dirty="0" err="1"/>
              <a:t>System.out.println</a:t>
            </a:r>
            <a:r>
              <a:rPr lang="en-US" dirty="0"/>
              <a:t>(str1.equals(str2)); O/P-&gt; true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If new String was not used then at run time actually str1 will be pointing to str2 so that time it would give true in both cases. So new was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3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21748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“</a:t>
            </a:r>
            <a:r>
              <a:rPr lang="en-US" dirty="0" err="1"/>
              <a:t>instanceof</a:t>
            </a:r>
            <a:r>
              <a:rPr lang="en-US" dirty="0"/>
              <a:t>”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5" y="904875"/>
            <a:ext cx="11353800" cy="555307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Used to check if a particular </a:t>
            </a:r>
            <a:r>
              <a:rPr lang="en-US" b="1" dirty="0"/>
              <a:t>reference</a:t>
            </a:r>
            <a:r>
              <a:rPr lang="en-US" dirty="0"/>
              <a:t> is an instance of the </a:t>
            </a:r>
            <a:r>
              <a:rPr lang="en-US" b="1" dirty="0"/>
              <a:t>class</a:t>
            </a:r>
            <a:r>
              <a:rPr lang="en-US" dirty="0"/>
              <a:t> specified.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Here one of the reference and class name should be either child/ parent of the other. Else it will throw CE saying incompatible types.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Ex </a:t>
            </a:r>
            <a:r>
              <a:rPr lang="en-US" dirty="0">
                <a:sym typeface="Wingdings" panose="05000000000000000000" pitchFamily="2" charset="2"/>
              </a:rPr>
              <a:t>:- (We know that Object-&gt;Person&gt;Student  [Parentchild order])</a:t>
            </a:r>
          </a:p>
          <a:p>
            <a:pPr algn="l"/>
            <a:r>
              <a:rPr lang="en-US" dirty="0">
                <a:sym typeface="Wingdings" panose="05000000000000000000" pitchFamily="2" charset="2"/>
              </a:rPr>
              <a:t>	Person p = new Person();</a:t>
            </a:r>
          </a:p>
          <a:p>
            <a:pPr algn="l"/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System.out.println</a:t>
            </a:r>
            <a:r>
              <a:rPr lang="en-US" dirty="0">
                <a:sym typeface="Wingdings" panose="05000000000000000000" pitchFamily="2" charset="2"/>
              </a:rPr>
              <a:t>(p </a:t>
            </a:r>
            <a:r>
              <a:rPr lang="en-US" dirty="0" err="1">
                <a:sym typeface="Wingdings" panose="05000000000000000000" pitchFamily="2" charset="2"/>
              </a:rPr>
              <a:t>instanceof</a:t>
            </a:r>
            <a:r>
              <a:rPr lang="en-US" dirty="0">
                <a:sym typeface="Wingdings" panose="05000000000000000000" pitchFamily="2" charset="2"/>
              </a:rPr>
              <a:t> Object);//true</a:t>
            </a:r>
          </a:p>
          <a:p>
            <a:pPr algn="l"/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System.out.println</a:t>
            </a:r>
            <a:r>
              <a:rPr lang="en-US" dirty="0">
                <a:sym typeface="Wingdings" panose="05000000000000000000" pitchFamily="2" charset="2"/>
              </a:rPr>
              <a:t>(p </a:t>
            </a:r>
            <a:r>
              <a:rPr lang="en-US" dirty="0" err="1">
                <a:sym typeface="Wingdings" panose="05000000000000000000" pitchFamily="2" charset="2"/>
              </a:rPr>
              <a:t>instanceof</a:t>
            </a:r>
            <a:r>
              <a:rPr lang="en-US" dirty="0">
                <a:sym typeface="Wingdings" panose="05000000000000000000" pitchFamily="2" charset="2"/>
              </a:rPr>
              <a:t> Person);//true</a:t>
            </a:r>
          </a:p>
          <a:p>
            <a:pPr algn="l"/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System.out.println</a:t>
            </a:r>
            <a:r>
              <a:rPr lang="en-US" dirty="0">
                <a:sym typeface="Wingdings" panose="05000000000000000000" pitchFamily="2" charset="2"/>
              </a:rPr>
              <a:t>(p </a:t>
            </a:r>
            <a:r>
              <a:rPr lang="en-US" dirty="0" err="1">
                <a:sym typeface="Wingdings" panose="05000000000000000000" pitchFamily="2" charset="2"/>
              </a:rPr>
              <a:t>instanceof</a:t>
            </a:r>
            <a:r>
              <a:rPr lang="en-US" dirty="0">
                <a:sym typeface="Wingdings" panose="05000000000000000000" pitchFamily="2" charset="2"/>
              </a:rPr>
              <a:t> Student);//false</a:t>
            </a:r>
          </a:p>
          <a:p>
            <a:pPr algn="l"/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sym typeface="Wingdings" panose="05000000000000000000" pitchFamily="2" charset="2"/>
              </a:rPr>
              <a:t>System.out.println</a:t>
            </a:r>
            <a:r>
              <a:rPr lang="en-US" dirty="0">
                <a:sym typeface="Wingdings" panose="05000000000000000000" pitchFamily="2" charset="2"/>
              </a:rPr>
              <a:t>(p </a:t>
            </a:r>
            <a:r>
              <a:rPr lang="en-US" dirty="0" err="1">
                <a:sym typeface="Wingdings" panose="05000000000000000000" pitchFamily="2" charset="2"/>
              </a:rPr>
              <a:t>instanceof</a:t>
            </a:r>
            <a:r>
              <a:rPr lang="en-US" dirty="0">
                <a:sym typeface="Wingdings" panose="05000000000000000000" pitchFamily="2" charset="2"/>
              </a:rPr>
              <a:t> String);//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CE incompatible types</a:t>
            </a:r>
            <a:endParaRPr lang="en-US" dirty="0">
              <a:solidFill>
                <a:srgbClr val="FF0000"/>
              </a:solidFill>
            </a:endParaRPr>
          </a:p>
          <a:p>
            <a:pPr algn="l"/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587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4128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BITWISE OPERATOR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275" y="971552"/>
            <a:ext cx="11677649" cy="2362198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For &amp;,|,^  can be used for all data types(except float &amp; double).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! Can be used only for Boolean types.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~ is used for all data types except </a:t>
            </a:r>
            <a:r>
              <a:rPr lang="en-US" dirty="0" err="1"/>
              <a:t>Boolean,float,doubt</a:t>
            </a:r>
            <a:r>
              <a:rPr lang="en-US" dirty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&amp;&amp;,|| (Short circuit operator) can be used only for Boolean types.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And main thing about &amp;&amp;,|| is that if first based on first argument if the result can be formed then second argument will not be checked.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3DDA0A-DE4F-E9C9-FA5B-F960395429DF}"/>
              </a:ext>
            </a:extLst>
          </p:cNvPr>
          <p:cNvSpPr txBox="1">
            <a:spLocks/>
          </p:cNvSpPr>
          <p:nvPr/>
        </p:nvSpPr>
        <p:spPr>
          <a:xfrm>
            <a:off x="1190625" y="3608388"/>
            <a:ext cx="8001000" cy="6683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ASSIGNMENT OPERATOR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5EB6AEB-6A98-B01E-35CA-C0F39FF38FB0}"/>
              </a:ext>
            </a:extLst>
          </p:cNvPr>
          <p:cNvSpPr txBox="1">
            <a:spLocks/>
          </p:cNvSpPr>
          <p:nvPr/>
        </p:nvSpPr>
        <p:spPr>
          <a:xfrm>
            <a:off x="247650" y="4333877"/>
            <a:ext cx="11677649" cy="2362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+=, -=, *=, /=, %=, &amp;=, |=, ^=, &gt;&gt;=, &gt;&gt;&gt;=,&lt;&lt;=.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&gt;&gt;=      </a:t>
            </a:r>
            <a:r>
              <a:rPr lang="en-US" dirty="0">
                <a:sym typeface="Wingdings" panose="05000000000000000000" pitchFamily="2" charset="2"/>
              </a:rPr>
              <a:t>      It shifts the bits to right and MSB will be retained.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ym typeface="Wingdings" panose="05000000000000000000" pitchFamily="2" charset="2"/>
              </a:rPr>
              <a:t>&gt;&gt;&gt;=    	It shifts the bits to the right and MSB will be 0.</a:t>
            </a: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&lt;&lt;= 	    </a:t>
            </a:r>
            <a:r>
              <a:rPr lang="en-US" dirty="0">
                <a:sym typeface="Wingdings" panose="05000000000000000000" pitchFamily="2" charset="2"/>
              </a:rPr>
              <a:t>	It shifts the bits to left and LSB will be 0.</a:t>
            </a: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322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7775" y="14128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TYPE 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6" y="733426"/>
            <a:ext cx="11515724" cy="2714624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There are two types </a:t>
            </a:r>
            <a:r>
              <a:rPr lang="en-US" b="1" dirty="0"/>
              <a:t>1) Implicit, 2) Explicit.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b="1" dirty="0"/>
              <a:t>1)Implicit : </a:t>
            </a:r>
            <a:r>
              <a:rPr lang="en-US" dirty="0"/>
              <a:t>Called widening or upcasting. This is implicitly done by java compiler.</a:t>
            </a:r>
          </a:p>
          <a:p>
            <a:pPr algn="l"/>
            <a:r>
              <a:rPr lang="en-US" dirty="0"/>
              <a:t>Ex : byte b =12; int x = b;=&gt;implicit typecasting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b="1" dirty="0"/>
              <a:t>2)Explicit : </a:t>
            </a:r>
            <a:r>
              <a:rPr lang="en-US" dirty="0"/>
              <a:t>Called narrowing or down casting. This is explicitly done by the programmer.</a:t>
            </a:r>
          </a:p>
          <a:p>
            <a:pPr algn="l"/>
            <a:r>
              <a:rPr lang="en-US" dirty="0"/>
              <a:t>Ex : int i = 115; byte b = (int)</a:t>
            </a:r>
            <a:r>
              <a:rPr lang="en-US" dirty="0" err="1"/>
              <a:t>i</a:t>
            </a:r>
            <a:r>
              <a:rPr lang="en-US" dirty="0"/>
              <a:t>;=&gt;explicit typecasting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C1142B-A25F-F839-D1F9-95C554FCCF2A}"/>
              </a:ext>
            </a:extLst>
          </p:cNvPr>
          <p:cNvSpPr txBox="1">
            <a:spLocks/>
          </p:cNvSpPr>
          <p:nvPr/>
        </p:nvSpPr>
        <p:spPr>
          <a:xfrm>
            <a:off x="1190625" y="3608388"/>
            <a:ext cx="8001000" cy="6683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TERNARY OPERATOR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DA2BDFD-3E85-09EB-0058-663CED2472B4}"/>
              </a:ext>
            </a:extLst>
          </p:cNvPr>
          <p:cNvSpPr txBox="1">
            <a:spLocks/>
          </p:cNvSpPr>
          <p:nvPr/>
        </p:nvSpPr>
        <p:spPr>
          <a:xfrm>
            <a:off x="247650" y="4333877"/>
            <a:ext cx="11677649" cy="2362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)?condition1:condition2;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If Boolean = true condition1 will be executed else if Boolean = false condition2 will be executed.</a:t>
            </a:r>
          </a:p>
        </p:txBody>
      </p:sp>
    </p:spTree>
    <p:extLst>
      <p:ext uri="{BB962C8B-B14F-4D97-AF65-F5344CB8AC3E}">
        <p14:creationId xmlns:p14="http://schemas.microsoft.com/office/powerpoint/2010/main" val="654733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125" y="16033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new Vs </a:t>
            </a:r>
            <a:r>
              <a:rPr lang="en-US" dirty="0" err="1"/>
              <a:t>newInstance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625" y="752475"/>
            <a:ext cx="11410949" cy="5695949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If you only know the name of the class at run time then </a:t>
            </a:r>
            <a:r>
              <a:rPr lang="en-US" dirty="0" err="1"/>
              <a:t>newInstance</a:t>
            </a:r>
            <a:r>
              <a:rPr lang="en-US" dirty="0"/>
              <a:t> is used. </a:t>
            </a:r>
            <a:r>
              <a:rPr lang="en-US" dirty="0" err="1"/>
              <a:t>newInstance</a:t>
            </a:r>
            <a:r>
              <a:rPr lang="en-US" dirty="0"/>
              <a:t> method returns Object type hence type casting is done.</a:t>
            </a:r>
          </a:p>
          <a:p>
            <a:pPr algn="l"/>
            <a:r>
              <a:rPr lang="en-US" dirty="0"/>
              <a:t>Ex: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5E732-3F4E-4877-68F9-DDAFD474A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39" y="1661749"/>
            <a:ext cx="5525271" cy="44723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DDB5AA-17E0-AD07-46F8-4B39725F6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227" y="3514707"/>
            <a:ext cx="2657846" cy="24768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DE44FFA-0AC3-51F9-EE31-AE8BAD4C50B9}"/>
              </a:ext>
            </a:extLst>
          </p:cNvPr>
          <p:cNvSpPr/>
          <p:nvPr/>
        </p:nvSpPr>
        <p:spPr>
          <a:xfrm>
            <a:off x="6772275" y="3600450"/>
            <a:ext cx="1257300" cy="190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BFA609-1709-2946-E010-39ABF0B8DDA7}"/>
              </a:ext>
            </a:extLst>
          </p:cNvPr>
          <p:cNvSpPr txBox="1"/>
          <p:nvPr/>
        </p:nvSpPr>
        <p:spPr>
          <a:xfrm>
            <a:off x="6800850" y="3152775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388CE1-5DAE-E18E-89C7-D4E565E8BCF2}"/>
              </a:ext>
            </a:extLst>
          </p:cNvPr>
          <p:cNvSpPr txBox="1"/>
          <p:nvPr/>
        </p:nvSpPr>
        <p:spPr>
          <a:xfrm>
            <a:off x="6562725" y="4181475"/>
            <a:ext cx="5514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Problem is that Object class method can only be called.</a:t>
            </a:r>
          </a:p>
          <a:p>
            <a:r>
              <a:rPr lang="en-US" dirty="0"/>
              <a:t>&amp; Class having parameterized constructor can’t be used</a:t>
            </a:r>
          </a:p>
        </p:txBody>
      </p:sp>
    </p:spTree>
    <p:extLst>
      <p:ext uri="{BB962C8B-B14F-4D97-AF65-F5344CB8AC3E}">
        <p14:creationId xmlns:p14="http://schemas.microsoft.com/office/powerpoint/2010/main" val="87545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50" y="265113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Instanceof</a:t>
            </a:r>
            <a:r>
              <a:rPr lang="en-US" dirty="0"/>
              <a:t> vs </a:t>
            </a:r>
            <a:r>
              <a:rPr lang="en-US" dirty="0" err="1"/>
              <a:t>isInstance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750" y="895350"/>
            <a:ext cx="2676525" cy="5372100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err="1"/>
              <a:t>isInstance</a:t>
            </a:r>
            <a:r>
              <a:rPr lang="en-US" dirty="0"/>
              <a:t> method is similar to instance of method but With just string as argument check can be done.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Try to read </a:t>
            </a:r>
            <a:r>
              <a:rPr lang="en-US" dirty="0" err="1"/>
              <a:t>isInstance</a:t>
            </a:r>
            <a:r>
              <a:rPr lang="en-US" dirty="0"/>
              <a:t> method from last to first to think similar to instance of method.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A74AB-195B-D376-2EDC-1AEFA4DBD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825" y="980685"/>
            <a:ext cx="8211003" cy="529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61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5" y="85725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FLOW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776" y="695325"/>
            <a:ext cx="11239500" cy="5638799"/>
          </a:xfrm>
        </p:spPr>
        <p:txBody>
          <a:bodyPr>
            <a:normAutofit fontScale="85000" lnSpcReduction="20000"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Ex 1:-  </a:t>
            </a:r>
            <a:r>
              <a:rPr lang="en-US" dirty="0" err="1"/>
              <a:t>boolean</a:t>
            </a:r>
            <a:r>
              <a:rPr lang="en-US" dirty="0"/>
              <a:t> b = false;</a:t>
            </a:r>
          </a:p>
          <a:p>
            <a:pPr algn="l"/>
            <a:r>
              <a:rPr lang="en-US" dirty="0"/>
              <a:t>	if(b=true){SOP(“HI”);}  -&gt; o/p HI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Ex 2:-  </a:t>
            </a:r>
            <a:r>
              <a:rPr lang="en-US" dirty="0" err="1"/>
              <a:t>boolean</a:t>
            </a:r>
            <a:r>
              <a:rPr lang="en-US" dirty="0"/>
              <a:t> b = true;</a:t>
            </a:r>
          </a:p>
          <a:p>
            <a:pPr algn="l"/>
            <a:r>
              <a:rPr lang="en-US" dirty="0"/>
              <a:t>	    </a:t>
            </a:r>
            <a:r>
              <a:rPr lang="en-US" dirty="0">
                <a:solidFill>
                  <a:srgbClr val="FF0000"/>
                </a:solidFill>
              </a:rPr>
              <a:t>switch(b){…} -&gt; long, </a:t>
            </a:r>
            <a:r>
              <a:rPr lang="en-US" dirty="0" err="1">
                <a:solidFill>
                  <a:srgbClr val="FF0000"/>
                </a:solidFill>
              </a:rPr>
              <a:t>boolean</a:t>
            </a:r>
            <a:r>
              <a:rPr lang="en-US" dirty="0">
                <a:solidFill>
                  <a:srgbClr val="FF0000"/>
                </a:solidFill>
              </a:rPr>
              <a:t>, float, double can’t be used in switch.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In case (of switch) only final variables can be used.</a:t>
            </a:r>
          </a:p>
          <a:p>
            <a:pPr algn="l"/>
            <a:r>
              <a:rPr lang="en-US" dirty="0"/>
              <a:t>     Ex :  final int x =20;</a:t>
            </a:r>
          </a:p>
          <a:p>
            <a:pPr algn="l"/>
            <a:r>
              <a:rPr lang="en-US" dirty="0"/>
              <a:t>	switch(x){</a:t>
            </a:r>
          </a:p>
          <a:p>
            <a:pPr algn="l"/>
            <a:r>
              <a:rPr lang="en-US" dirty="0"/>
              <a:t>	 case x: SOP(“HI”);</a:t>
            </a:r>
          </a:p>
          <a:p>
            <a:pPr algn="l"/>
            <a:r>
              <a:rPr lang="en-US" dirty="0"/>
              <a:t>	} -&gt; o/p HI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Duplicate case label will give compile time error</a:t>
            </a:r>
          </a:p>
          <a:p>
            <a:pPr algn="l"/>
            <a:r>
              <a:rPr lang="en-US" dirty="0"/>
              <a:t>     Ex : switch(9){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case ‘a’ : </a:t>
            </a:r>
            <a:r>
              <a:rPr lang="en-US" dirty="0"/>
              <a:t>sop(“HI”);break;</a:t>
            </a:r>
          </a:p>
          <a:p>
            <a:pPr algn="l"/>
            <a:r>
              <a:rPr lang="en-US" dirty="0"/>
              <a:t>	case 9 : sop(“HELLO”);break;</a:t>
            </a:r>
          </a:p>
          <a:p>
            <a:pPr algn="l"/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case 97 : </a:t>
            </a:r>
            <a:r>
              <a:rPr lang="en-US" dirty="0"/>
              <a:t>sop(“WELCOME”);break;</a:t>
            </a:r>
          </a:p>
          <a:p>
            <a:pPr algn="l"/>
            <a:r>
              <a:rPr lang="en-US" dirty="0"/>
              <a:t>	}</a:t>
            </a:r>
            <a:endParaRPr lang="en-US" dirty="0">
              <a:solidFill>
                <a:srgbClr val="FF0000"/>
              </a:solidFill>
            </a:endParaRPr>
          </a:p>
          <a:p>
            <a:pPr algn="l"/>
            <a:r>
              <a:rPr lang="en-US" dirty="0">
                <a:solidFill>
                  <a:srgbClr val="FF0000"/>
                </a:solidFill>
              </a:rPr>
              <a:t>	CE : duplicate case label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273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0" y="381000"/>
            <a:ext cx="11506200" cy="614362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If used a&gt;b or a==b for the image on right then it will be</a:t>
            </a:r>
          </a:p>
          <a:p>
            <a:pPr algn="l"/>
            <a:r>
              <a:rPr lang="en-US" dirty="0"/>
              <a:t>an infinite loop printing 10.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 err="1"/>
              <a:t>Appart</a:t>
            </a:r>
            <a:r>
              <a:rPr lang="en-US" dirty="0"/>
              <a:t> from for loop to retrieve all elements of arrays </a:t>
            </a:r>
          </a:p>
          <a:p>
            <a:pPr algn="l"/>
            <a:r>
              <a:rPr lang="en-US" dirty="0"/>
              <a:t>or collections for each loop can be used.</a:t>
            </a:r>
          </a:p>
          <a:p>
            <a:pPr algn="l"/>
            <a:r>
              <a:rPr lang="en-US" dirty="0"/>
              <a:t>Ex :-&gt;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0E12F7-64BF-3A36-0A76-E53B47747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065" y="461713"/>
            <a:ext cx="3905585" cy="2043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922739-A469-797F-A9FA-65B9470FD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00" y="2709613"/>
            <a:ext cx="5372850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24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650" y="19843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ITERATOR &amp; ITERABLE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5" y="971550"/>
            <a:ext cx="11296649" cy="5448300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Iterable</a:t>
            </a:r>
            <a:r>
              <a:rPr lang="en-US" dirty="0"/>
              <a:t> {present in </a:t>
            </a:r>
            <a:r>
              <a:rPr lang="en-US" dirty="0" err="1"/>
              <a:t>java.lang</a:t>
            </a:r>
            <a:r>
              <a:rPr lang="en-US" dirty="0"/>
              <a:t> package} is an interface having one method called Iterator(){present in </a:t>
            </a:r>
            <a:r>
              <a:rPr lang="en-US" dirty="0" err="1"/>
              <a:t>java.util</a:t>
            </a:r>
            <a:r>
              <a:rPr lang="en-US" dirty="0"/>
              <a:t> package}.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The target element in for each loop should be </a:t>
            </a:r>
            <a:r>
              <a:rPr lang="en-US" dirty="0" err="1"/>
              <a:t>Iterable</a:t>
            </a:r>
            <a:r>
              <a:rPr lang="en-US" dirty="0"/>
              <a:t> type. (i.e.  for(element </a:t>
            </a:r>
            <a:r>
              <a:rPr lang="en-US" dirty="0" err="1"/>
              <a:t>in:target</a:t>
            </a:r>
            <a:r>
              <a:rPr lang="en-US" dirty="0"/>
              <a:t>))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An object is said to be </a:t>
            </a:r>
            <a:r>
              <a:rPr lang="en-US" dirty="0" err="1"/>
              <a:t>Iterable</a:t>
            </a:r>
            <a:r>
              <a:rPr lang="en-US" dirty="0"/>
              <a:t> if and only if corresponding class implements </a:t>
            </a:r>
            <a:r>
              <a:rPr lang="en-US" dirty="0" err="1"/>
              <a:t>Iterable</a:t>
            </a:r>
            <a:r>
              <a:rPr lang="en-US" dirty="0"/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All array related classes &amp; collection implemented classes implement </a:t>
            </a:r>
            <a:r>
              <a:rPr lang="en-US" dirty="0" err="1"/>
              <a:t>iterable</a:t>
            </a:r>
            <a:r>
              <a:rPr lang="en-US" dirty="0"/>
              <a:t> interface.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Iterator has three methods </a:t>
            </a:r>
            <a:r>
              <a:rPr lang="en-US" dirty="0" err="1"/>
              <a:t>hasNext</a:t>
            </a:r>
            <a:r>
              <a:rPr lang="en-US" dirty="0"/>
              <a:t>(), next() &amp; remove().</a:t>
            </a:r>
          </a:p>
        </p:txBody>
      </p:sp>
    </p:spTree>
    <p:extLst>
      <p:ext uri="{BB962C8B-B14F-4D97-AF65-F5344CB8AC3E}">
        <p14:creationId xmlns:p14="http://schemas.microsoft.com/office/powerpoint/2010/main" val="465987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BD1F-78AF-0BF8-03B8-6ACFF5A9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375" y="827088"/>
            <a:ext cx="8001000" cy="668337"/>
          </a:xfrm>
        </p:spPr>
        <p:txBody>
          <a:bodyPr>
            <a:normAutofit fontScale="90000"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F2FCC-9CF6-B5DC-6189-7D123FC4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1562100"/>
            <a:ext cx="9894045" cy="461962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479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4755</TotalTime>
  <Words>2225</Words>
  <Application>Microsoft Office PowerPoint</Application>
  <PresentationFormat>Widescreen</PresentationFormat>
  <Paragraphs>246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IDENTIFIER RULES</vt:lpstr>
      <vt:lpstr>Keywords</vt:lpstr>
      <vt:lpstr>IS JAVA STATICALLY TYPED ?</vt:lpstr>
      <vt:lpstr>DATA TYPE RANGE</vt:lpstr>
      <vt:lpstr>SPECIAL CHARACCTERS</vt:lpstr>
      <vt:lpstr>ARRAYS</vt:lpstr>
      <vt:lpstr>VARIABLES</vt:lpstr>
      <vt:lpstr>VARARGS</vt:lpstr>
      <vt:lpstr>MAIN METHOD</vt:lpstr>
      <vt:lpstr>++ Operator usecase</vt:lpstr>
      <vt:lpstr>JAVA STANDARD</vt:lpstr>
      <vt:lpstr>== VS .equals in String</vt:lpstr>
      <vt:lpstr>“instanceof” METHOD</vt:lpstr>
      <vt:lpstr>BITWISE OPERATOR</vt:lpstr>
      <vt:lpstr>TYPE CASTING</vt:lpstr>
      <vt:lpstr>new Vs newInstance</vt:lpstr>
      <vt:lpstr>Instanceof vs isInstance</vt:lpstr>
      <vt:lpstr>FLOW CONTROL</vt:lpstr>
      <vt:lpstr>PowerPoint Presentation</vt:lpstr>
      <vt:lpstr>ITERATOR &amp; ITERABLE</vt:lpstr>
      <vt:lpstr>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IDENTIFIER RULES</dc:title>
  <dc:creator>Sampanna T</dc:creator>
  <cp:lastModifiedBy>Sampanna T</cp:lastModifiedBy>
  <cp:revision>30</cp:revision>
  <dcterms:created xsi:type="dcterms:W3CDTF">2022-05-23T07:08:20Z</dcterms:created>
  <dcterms:modified xsi:type="dcterms:W3CDTF">2022-06-12T03:40:07Z</dcterms:modified>
</cp:coreProperties>
</file>